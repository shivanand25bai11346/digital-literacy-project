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orizon" charset="1" panose="02000500000000000000"/>
      <p:regular r:id="rId11"/>
    </p:embeddedFont>
    <p:embeddedFont>
      <p:font typeface="Abril Fatface" charset="1" panose="02000503000000020003"/>
      <p:regular r:id="rId12"/>
    </p:embeddedFont>
    <p:embeddedFont>
      <p:font typeface="Arimo" charset="1" panose="020B0604020202020204"/>
      <p:regular r:id="rId13"/>
    </p:embeddedFont>
    <p:embeddedFont>
      <p:font typeface="Arimo Bold" charset="1" panose="020B07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7879" y="-260241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1279" y="368967"/>
            <a:ext cx="16769684" cy="369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sz="7925">
                <a:solidFill>
                  <a:srgbClr val="8FADEB"/>
                </a:solidFill>
                <a:latin typeface="Horizon"/>
                <a:ea typeface="Horizon"/>
                <a:cs typeface="Horizon"/>
                <a:sym typeface="Horizon"/>
              </a:rPr>
              <a:t>Digital Literacy: Skills for the Modern Student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6405" y="4699155"/>
            <a:ext cx="8486998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812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What is Digital Literacy?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4359" y="5846918"/>
            <a:ext cx="16303523" cy="80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Digital literacy is the ability to use digital devices, apps, and the internet effectively. It includes finding, evaluating, and creating information online — and helps students succeed in learning, communication, and problem-solving.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7412312"/>
            <a:ext cx="5297386" cy="76200"/>
            <a:chOff x="0" y="0"/>
            <a:chExt cx="7063181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3232" cy="101600"/>
            </a:xfrm>
            <a:custGeom>
              <a:avLst/>
              <a:gdLst/>
              <a:ahLst/>
              <a:cxnLst/>
              <a:rect r="r" b="b" t="t" l="l"/>
              <a:pathLst>
                <a:path h="101600" w="7063232">
                  <a:moveTo>
                    <a:pt x="0" y="0"/>
                  </a:moveTo>
                  <a:lnTo>
                    <a:pt x="7063232" y="0"/>
                  </a:lnTo>
                  <a:lnTo>
                    <a:pt x="7063232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674E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7793312"/>
            <a:ext cx="2485951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74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Use Effectively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8499750"/>
            <a:ext cx="5221186" cy="77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3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Navigate digital devices, apps, and the internet with confidence and purpose.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78944" y="7412312"/>
            <a:ext cx="5297538" cy="76200"/>
            <a:chOff x="0" y="0"/>
            <a:chExt cx="7063384" cy="10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3359" cy="101600"/>
            </a:xfrm>
            <a:custGeom>
              <a:avLst/>
              <a:gdLst/>
              <a:ahLst/>
              <a:cxnLst/>
              <a:rect r="r" b="b" t="t" l="l"/>
              <a:pathLst>
                <a:path h="101600" w="7063359">
                  <a:moveTo>
                    <a:pt x="0" y="0"/>
                  </a:moveTo>
                  <a:lnTo>
                    <a:pt x="7063359" y="0"/>
                  </a:lnTo>
                  <a:lnTo>
                    <a:pt x="706335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8FADE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78944" y="7793312"/>
            <a:ext cx="2694459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74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Find &amp; Evaluate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17044" y="8499750"/>
            <a:ext cx="5221338" cy="77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3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Locate, assess, and create reliable information in online environments.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62233" y="7412312"/>
            <a:ext cx="5297538" cy="76200"/>
            <a:chOff x="0" y="0"/>
            <a:chExt cx="7063384" cy="10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63359" cy="101600"/>
            </a:xfrm>
            <a:custGeom>
              <a:avLst/>
              <a:gdLst/>
              <a:ahLst/>
              <a:cxnLst/>
              <a:rect r="r" b="b" t="t" l="l"/>
              <a:pathLst>
                <a:path h="101600" w="7063359">
                  <a:moveTo>
                    <a:pt x="0" y="0"/>
                  </a:moveTo>
                  <a:lnTo>
                    <a:pt x="7063359" y="0"/>
                  </a:lnTo>
                  <a:lnTo>
                    <a:pt x="706335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162233" y="7793312"/>
            <a:ext cx="2358926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74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Learn &amp; Solve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62233" y="8499750"/>
            <a:ext cx="5221338" cy="77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3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Apply digital skills to support learning, communication, and problem-solving.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4138" y="962025"/>
            <a:ext cx="17295762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124">
                <a:solidFill>
                  <a:srgbClr val="8FADEB"/>
                </a:solidFill>
                <a:latin typeface="Horizon"/>
                <a:ea typeface="Horizon"/>
                <a:cs typeface="Horizon"/>
                <a:sym typeface="Horizon"/>
              </a:rPr>
              <a:t>Useful Digital Tools for Students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316929"/>
            <a:ext cx="16303523" cy="8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5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The right tools can transform how you study, collaborate, and present your work. Here are the essential apps every modern student should know.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4138" y="5069834"/>
            <a:ext cx="76200" cy="1451219"/>
            <a:chOff x="0" y="0"/>
            <a:chExt cx="101600" cy="19349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934972"/>
            </a:xfrm>
            <a:custGeom>
              <a:avLst/>
              <a:gdLst/>
              <a:ahLst/>
              <a:cxnLst/>
              <a:rect r="r" b="b" t="t" l="l"/>
              <a:pathLst>
                <a:path h="1934972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934972"/>
                  </a:lnTo>
                  <a:lnTo>
                    <a:pt x="0" y="1934972"/>
                  </a:lnTo>
                  <a:close/>
                </a:path>
              </a:pathLst>
            </a:custGeom>
            <a:solidFill>
              <a:srgbClr val="4674E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1959" y="5117459"/>
            <a:ext cx="5602709" cy="48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262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Google Docs / Microsoft Word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1959" y="5698331"/>
            <a:ext cx="7614790" cy="8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5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Write assignments, take notes, and collaborate on documents in real time.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3008" y="5069834"/>
            <a:ext cx="76200" cy="1451219"/>
            <a:chOff x="0" y="0"/>
            <a:chExt cx="101600" cy="19349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" cy="1934972"/>
            </a:xfrm>
            <a:custGeom>
              <a:avLst/>
              <a:gdLst/>
              <a:ahLst/>
              <a:cxnLst/>
              <a:rect r="r" b="b" t="t" l="l"/>
              <a:pathLst>
                <a:path h="1934972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934972"/>
                  </a:lnTo>
                  <a:lnTo>
                    <a:pt x="0" y="1934972"/>
                  </a:lnTo>
                  <a:close/>
                </a:path>
              </a:pathLst>
            </a:custGeom>
            <a:solidFill>
              <a:srgbClr val="8FAD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80819" y="5117459"/>
            <a:ext cx="3881289" cy="46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62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Excel / Google Sheets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80819" y="5707856"/>
            <a:ext cx="7614942" cy="784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3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Organise data, perform calculations, and visualise results with ease.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4138" y="7011886"/>
            <a:ext cx="76200" cy="1451219"/>
            <a:chOff x="0" y="0"/>
            <a:chExt cx="101600" cy="19349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1934972"/>
            </a:xfrm>
            <a:custGeom>
              <a:avLst/>
              <a:gdLst/>
              <a:ahLst/>
              <a:cxnLst/>
              <a:rect r="r" b="b" t="t" l="l"/>
              <a:pathLst>
                <a:path h="1934972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934972"/>
                  </a:lnTo>
                  <a:lnTo>
                    <a:pt x="0" y="1934972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51959" y="7059511"/>
            <a:ext cx="3684091" cy="46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62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Canva / PowerPoint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1959" y="7649918"/>
            <a:ext cx="7614790" cy="784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3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Design professional presentations and visual projects for any subject.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83008" y="7011886"/>
            <a:ext cx="76200" cy="1451219"/>
            <a:chOff x="0" y="0"/>
            <a:chExt cx="101600" cy="19349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" cy="1934972"/>
            </a:xfrm>
            <a:custGeom>
              <a:avLst/>
              <a:gdLst/>
              <a:ahLst/>
              <a:cxnLst/>
              <a:rect r="r" b="b" t="t" l="l"/>
              <a:pathLst>
                <a:path h="1934972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934972"/>
                  </a:lnTo>
                  <a:lnTo>
                    <a:pt x="0" y="19349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80819" y="7059511"/>
            <a:ext cx="4980161" cy="46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62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 GitHub &amp; Google Calendar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80819" y="7649918"/>
            <a:ext cx="7614942" cy="784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3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Manage coding projects and stay organised with effective time management tools.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1714" y="1315641"/>
            <a:ext cx="16178585" cy="9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124">
                <a:solidFill>
                  <a:srgbClr val="8FADEB"/>
                </a:solidFill>
                <a:latin typeface="Horizon"/>
                <a:ea typeface="Horizon"/>
                <a:cs typeface="Horizon"/>
                <a:sym typeface="Horizon"/>
              </a:rPr>
              <a:t>Safe Internet Practices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53928"/>
            <a:ext cx="16303523" cy="8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5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Staying safe online is a critical skill. Follow these key practices to protect your personal information and digital identity.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588991"/>
            <a:ext cx="16303523" cy="4469759"/>
            <a:chOff x="0" y="0"/>
            <a:chExt cx="21738031" cy="595967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738082" cy="5959729"/>
            </a:xfrm>
            <a:custGeom>
              <a:avLst/>
              <a:gdLst/>
              <a:ahLst/>
              <a:cxnLst/>
              <a:rect r="r" b="b" t="t" l="l"/>
              <a:pathLst>
                <a:path h="5959729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959729"/>
                  </a:lnTo>
                  <a:lnTo>
                    <a:pt x="0" y="595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" t="0" r="-3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957579" y="4903121"/>
            <a:ext cx="2463698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3000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Strong Passwords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57579" y="5966129"/>
            <a:ext cx="2463698" cy="118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4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Use letters, numbers, and symbols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2709" y="4827994"/>
            <a:ext cx="2463698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3000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Guard Personal Info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40964" y="6032350"/>
            <a:ext cx="3147189" cy="79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4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Never share OTPs or passwords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3657" y="4599394"/>
            <a:ext cx="2463698" cy="137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3000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Avoid Unknown Links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4919" y="6161391"/>
            <a:ext cx="2463698" cy="118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4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Don't click suspicious emails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63134" y="5360321"/>
            <a:ext cx="1991544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3000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Enable 2FA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05384" y="6161391"/>
            <a:ext cx="2907044" cy="79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4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Activate two-factor authentication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8330060"/>
            <a:ext cx="16303523" cy="8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5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Building safe online habits early protects your identity, your data, and your academic reputation throughout your life.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9038" y="1010841"/>
            <a:ext cx="17295762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124">
                <a:solidFill>
                  <a:srgbClr val="8FADEB"/>
                </a:solidFill>
                <a:latin typeface="Horizon"/>
                <a:ea typeface="Horizon"/>
                <a:cs typeface="Horizon"/>
                <a:sym typeface="Horizon"/>
              </a:rPr>
              <a:t>Professional Online Presence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58778"/>
            <a:ext cx="16303523" cy="8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5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Your digital footprint follows you into your career. Build a positive and professional online presence starting today with these key practices.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4138" y="5030838"/>
            <a:ext cx="5274469" cy="76200"/>
            <a:chOff x="0" y="0"/>
            <a:chExt cx="7032625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32625" cy="101600"/>
            </a:xfrm>
            <a:custGeom>
              <a:avLst/>
              <a:gdLst/>
              <a:ahLst/>
              <a:cxnLst/>
              <a:rect r="r" b="b" t="t" l="l"/>
              <a:pathLst>
                <a:path h="101600" w="7032625">
                  <a:moveTo>
                    <a:pt x="0" y="0"/>
                  </a:moveTo>
                  <a:lnTo>
                    <a:pt x="7032625" y="0"/>
                  </a:lnTo>
                  <a:lnTo>
                    <a:pt x="7032625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674E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5381034"/>
            <a:ext cx="2492276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124">
                <a:solidFill>
                  <a:srgbClr val="DCE6F8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Profile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420441"/>
            <a:ext cx="3898554" cy="48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Clear Photo &amp; Bio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039423"/>
            <a:ext cx="5198269" cy="12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4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Use a professional photo and a concise bio that represents your skills and goals.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06766" y="5030838"/>
            <a:ext cx="5274469" cy="76200"/>
            <a:chOff x="0" y="0"/>
            <a:chExt cx="7032625" cy="10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32625" cy="101600"/>
            </a:xfrm>
            <a:custGeom>
              <a:avLst/>
              <a:gdLst/>
              <a:ahLst/>
              <a:cxnLst/>
              <a:rect r="r" b="b" t="t" l="l"/>
              <a:pathLst>
                <a:path h="101600" w="7032625">
                  <a:moveTo>
                    <a:pt x="0" y="0"/>
                  </a:moveTo>
                  <a:lnTo>
                    <a:pt x="7032625" y="0"/>
                  </a:lnTo>
                  <a:lnTo>
                    <a:pt x="7032625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0387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44866" y="5381034"/>
            <a:ext cx="3242146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124">
                <a:solidFill>
                  <a:srgbClr val="DCE6F8"/>
                </a:solidFill>
                <a:latin typeface="Abril Fatface"/>
                <a:ea typeface="Abril Fatface"/>
                <a:cs typeface="Abril Fatface"/>
                <a:sym typeface="Abril Fatface"/>
              </a:rPr>
              <a:t>Portfolio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4866" y="6420441"/>
            <a:ext cx="3898554" cy="48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LinkedIn &amp; GitHub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44866" y="7039423"/>
            <a:ext cx="5198269" cy="12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4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Keep your profiles updated with projects, achievements, and relevant experience.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9393" y="5030838"/>
            <a:ext cx="5274469" cy="76200"/>
            <a:chOff x="0" y="0"/>
            <a:chExt cx="7032625" cy="10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32625" cy="101600"/>
            </a:xfrm>
            <a:custGeom>
              <a:avLst/>
              <a:gdLst/>
              <a:ahLst/>
              <a:cxnLst/>
              <a:rect r="r" b="b" t="t" l="l"/>
              <a:pathLst>
                <a:path h="101600" w="7032625">
                  <a:moveTo>
                    <a:pt x="0" y="0"/>
                  </a:moveTo>
                  <a:lnTo>
                    <a:pt x="7032625" y="0"/>
                  </a:lnTo>
                  <a:lnTo>
                    <a:pt x="7032625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97493" y="5381034"/>
            <a:ext cx="3048446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6124">
                <a:solidFill>
                  <a:srgbClr val="DCE6F8"/>
                </a:solidFill>
                <a:latin typeface="Abril Fatface"/>
                <a:ea typeface="Abril Fatface"/>
                <a:cs typeface="Abril Fatface"/>
                <a:sym typeface="Abril Fatface"/>
              </a:rPr>
              <a:t>Conduct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7493" y="6420441"/>
            <a:ext cx="3898554" cy="48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Positive Footprint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97493" y="7039423"/>
            <a:ext cx="5198269" cy="12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487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Avoid offensive content and always think before you post — the internet never forgets.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CE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2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9562" y="511969"/>
            <a:ext cx="9839771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812">
                <a:solidFill>
                  <a:srgbClr val="8FADEB"/>
                </a:solidFill>
                <a:latin typeface="Horizon"/>
                <a:ea typeface="Horizon"/>
                <a:cs typeface="Horizon"/>
                <a:sym typeface="Horizon"/>
              </a:rPr>
              <a:t>Email Etiquette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9562" y="1772545"/>
            <a:ext cx="4725814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74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Writing Professional Emails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9562" y="2568778"/>
            <a:ext cx="16308886" cy="7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Email is still the primary form of professional communication. Learning to write clear, respectful, and well-structured emails will serve you throughout your academic and professional life.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25106"/>
            <a:ext cx="3091363" cy="58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3774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What is it?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01791"/>
            <a:ext cx="4942884" cy="156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The practice of writing clear, respectful, and professional emails that make communication easy and effective.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97101" y="4254398"/>
            <a:ext cx="5112544" cy="38100"/>
            <a:chOff x="0" y="0"/>
            <a:chExt cx="6816725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16725" cy="50800"/>
            </a:xfrm>
            <a:custGeom>
              <a:avLst/>
              <a:gdLst/>
              <a:ahLst/>
              <a:cxnLst/>
              <a:rect r="r" b="b" t="t" l="l"/>
              <a:pathLst>
                <a:path h="50800" w="6816725">
                  <a:moveTo>
                    <a:pt x="0" y="0"/>
                  </a:moveTo>
                  <a:lnTo>
                    <a:pt x="6816725" y="0"/>
                  </a:lnTo>
                  <a:lnTo>
                    <a:pt x="681672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FADE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97101" y="4464844"/>
            <a:ext cx="1660847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74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Key Rules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7728" y="5056946"/>
            <a:ext cx="5112544" cy="195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Clear subject</a:t>
            </a:r>
          </a:p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Polite greeting</a:t>
            </a:r>
          </a:p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Short message</a:t>
            </a:r>
          </a:p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Formal language</a:t>
            </a:r>
          </a:p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Proper closing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374318" y="4254398"/>
            <a:ext cx="4942884" cy="38100"/>
            <a:chOff x="0" y="0"/>
            <a:chExt cx="6590513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90538" cy="50800"/>
            </a:xfrm>
            <a:custGeom>
              <a:avLst/>
              <a:gdLst/>
              <a:ahLst/>
              <a:cxnLst/>
              <a:rect r="r" b="b" t="t" l="l"/>
              <a:pathLst>
                <a:path h="50800" w="6590538">
                  <a:moveTo>
                    <a:pt x="0" y="0"/>
                  </a:moveTo>
                  <a:lnTo>
                    <a:pt x="6590538" y="0"/>
                  </a:lnTo>
                  <a:lnTo>
                    <a:pt x="65905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674E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74318" y="4464844"/>
            <a:ext cx="976312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74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Avoid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16416" y="5114925"/>
            <a:ext cx="4942884" cy="156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No subject</a:t>
            </a:r>
          </a:p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Informal words</a:t>
            </a:r>
          </a:p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All caps</a:t>
            </a:r>
          </a:p>
          <a:p>
            <a:pPr algn="l" marL="371374" indent="-185687" lvl="1">
              <a:lnSpc>
                <a:spcPts val="3134"/>
              </a:lnSpc>
              <a:buFont typeface="Arial"/>
              <a:buChar char="•"/>
            </a:pPr>
            <a:r>
              <a:rPr lang="en-US" sz="2462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Long messy text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603606"/>
            <a:ext cx="14580848" cy="220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224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Subject:</a:t>
            </a:r>
            <a:r>
              <a:rPr lang="en-US" sz="2224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923"/>
              </a:lnSpc>
            </a:pPr>
            <a:r>
              <a:rPr lang="en-US" sz="2224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Dear Sir,</a:t>
            </a:r>
          </a:p>
          <a:p>
            <a:pPr algn="l">
              <a:lnSpc>
                <a:spcPts val="2923"/>
              </a:lnSpc>
            </a:pPr>
            <a:r>
              <a:rPr lang="en-US" sz="2224" b="true">
                <a:solidFill>
                  <a:srgbClr val="DCE6F8"/>
                </a:solidFill>
                <a:latin typeface="Arimo Bold"/>
                <a:ea typeface="Arimo Bold"/>
                <a:cs typeface="Arimo Bold"/>
                <a:sym typeface="Arimo Bold"/>
              </a:rPr>
              <a:t>     </a:t>
            </a:r>
            <a:r>
              <a:rPr lang="en-US" sz="2224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I hope you are well. I am writing to ask if we can meet this week to discuss the project.</a:t>
            </a:r>
          </a:p>
          <a:p>
            <a:pPr algn="l">
              <a:lnSpc>
                <a:spcPts val="2923"/>
              </a:lnSpc>
            </a:pPr>
            <a:r>
              <a:rPr lang="en-US" sz="2224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     .....</a:t>
            </a:r>
          </a:p>
          <a:p>
            <a:pPr algn="l">
              <a:lnSpc>
                <a:spcPts val="2923"/>
              </a:lnSpc>
            </a:pPr>
            <a:r>
              <a:rPr lang="en-US" sz="2224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Regards,</a:t>
            </a:r>
          </a:p>
          <a:p>
            <a:pPr algn="l">
              <a:lnSpc>
                <a:spcPts val="2923"/>
              </a:lnSpc>
            </a:pPr>
            <a:r>
              <a:rPr lang="en-US" sz="2224">
                <a:solidFill>
                  <a:srgbClr val="DCE6F8"/>
                </a:solidFill>
                <a:latin typeface="Arimo"/>
                <a:ea typeface="Arimo"/>
                <a:cs typeface="Arimo"/>
                <a:sym typeface="Arimo"/>
              </a:rPr>
              <a:t>XYZ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024926"/>
            <a:ext cx="3172644" cy="51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3462">
                <a:solidFill>
                  <a:srgbClr val="B0B9CD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 Email: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DAHFQFoviuc</dc:identifier>
  <dcterms:modified xsi:type="dcterms:W3CDTF">2011-08-01T06:04:30Z</dcterms:modified>
  <cp:revision>1</cp:revision>
  <dc:title>Professional Online Presence</dc:title>
</cp:coreProperties>
</file>